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ED274-F7C4-4980-BF2F-AA7F03FF1B71}" v="9" dt="2026-01-30T18:01:03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aziz J ALharbi" userId="b900f52ee93742ea" providerId="LiveId" clId="{1E4A472C-8D5F-4C3D-A878-9F4CE084232D}"/>
    <pc:docChg chg="undo custSel modSld">
      <pc:chgData name="abdulaziz J ALharbi" userId="b900f52ee93742ea" providerId="LiveId" clId="{1E4A472C-8D5F-4C3D-A878-9F4CE084232D}" dt="2026-01-30T18:06:24.534" v="192" actId="2"/>
      <pc:docMkLst>
        <pc:docMk/>
      </pc:docMkLst>
      <pc:sldChg chg="addSp modSp mod">
        <pc:chgData name="abdulaziz J ALharbi" userId="b900f52ee93742ea" providerId="LiveId" clId="{1E4A472C-8D5F-4C3D-A878-9F4CE084232D}" dt="2026-01-30T17:37:04.227" v="8" actId="1440"/>
        <pc:sldMkLst>
          <pc:docMk/>
          <pc:sldMk cId="0" sldId="256"/>
        </pc:sldMkLst>
        <pc:spChg chg="mod">
          <ac:chgData name="abdulaziz J ALharbi" userId="b900f52ee93742ea" providerId="LiveId" clId="{1E4A472C-8D5F-4C3D-A878-9F4CE084232D}" dt="2026-01-30T17:35:43.860" v="4" actId="2057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abdulaziz J ALharbi" userId="b900f52ee93742ea" providerId="LiveId" clId="{1E4A472C-8D5F-4C3D-A878-9F4CE084232D}" dt="2026-01-30T17:37:04.227" v="8" actId="1440"/>
          <ac:picMkLst>
            <pc:docMk/>
            <pc:sldMk cId="0" sldId="256"/>
            <ac:picMk id="10" creationId="{E02E3799-917C-460B-A1F5-9EA64B24B447}"/>
          </ac:picMkLst>
        </pc:picChg>
      </pc:sldChg>
      <pc:sldChg chg="modSp mod">
        <pc:chgData name="abdulaziz J ALharbi" userId="b900f52ee93742ea" providerId="LiveId" clId="{1E4A472C-8D5F-4C3D-A878-9F4CE084232D}" dt="2026-01-30T18:06:24.534" v="192" actId="2"/>
        <pc:sldMkLst>
          <pc:docMk/>
          <pc:sldMk cId="0" sldId="257"/>
        </pc:sldMkLst>
        <pc:spChg chg="mod">
          <ac:chgData name="abdulaziz J ALharbi" userId="b900f52ee93742ea" providerId="LiveId" clId="{1E4A472C-8D5F-4C3D-A878-9F4CE084232D}" dt="2026-01-30T18:06:24.534" v="192" actId="2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dulaziz J ALharbi" userId="b900f52ee93742ea" providerId="LiveId" clId="{1E4A472C-8D5F-4C3D-A878-9F4CE084232D}" dt="2026-01-30T17:47:21.873" v="14" actId="20577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abdulaziz J ALharbi" userId="b900f52ee93742ea" providerId="LiveId" clId="{1E4A472C-8D5F-4C3D-A878-9F4CE084232D}" dt="2026-01-30T17:54:46.859" v="35"/>
        <pc:sldMkLst>
          <pc:docMk/>
          <pc:sldMk cId="0" sldId="262"/>
        </pc:sldMkLst>
        <pc:spChg chg="mod">
          <ac:chgData name="abdulaziz J ALharbi" userId="b900f52ee93742ea" providerId="LiveId" clId="{1E4A472C-8D5F-4C3D-A878-9F4CE084232D}" dt="2026-01-30T17:54:31.634" v="30" actId="2057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abdulaziz J ALharbi" userId="b900f52ee93742ea" providerId="LiveId" clId="{1E4A472C-8D5F-4C3D-A878-9F4CE084232D}" dt="2026-01-30T17:54:39.891" v="32"/>
          <ac:spMkLst>
            <pc:docMk/>
            <pc:sldMk cId="0" sldId="262"/>
            <ac:spMk id="27" creationId="{00000000-0000-0000-0000-000000000000}"/>
          </ac:spMkLst>
        </pc:spChg>
        <pc:spChg chg="mod">
          <ac:chgData name="abdulaziz J ALharbi" userId="b900f52ee93742ea" providerId="LiveId" clId="{1E4A472C-8D5F-4C3D-A878-9F4CE084232D}" dt="2026-01-30T17:54:42.059" v="33"/>
          <ac:spMkLst>
            <pc:docMk/>
            <pc:sldMk cId="0" sldId="262"/>
            <ac:spMk id="37" creationId="{00000000-0000-0000-0000-000000000000}"/>
          </ac:spMkLst>
        </pc:spChg>
        <pc:spChg chg="mod">
          <ac:chgData name="abdulaziz J ALharbi" userId="b900f52ee93742ea" providerId="LiveId" clId="{1E4A472C-8D5F-4C3D-A878-9F4CE084232D}" dt="2026-01-30T17:54:37.118" v="31"/>
          <ac:spMkLst>
            <pc:docMk/>
            <pc:sldMk cId="0" sldId="262"/>
            <ac:spMk id="45" creationId="{00000000-0000-0000-0000-000000000000}"/>
          </ac:spMkLst>
        </pc:spChg>
        <pc:spChg chg="mod">
          <ac:chgData name="abdulaziz J ALharbi" userId="b900f52ee93742ea" providerId="LiveId" clId="{1E4A472C-8D5F-4C3D-A878-9F4CE084232D}" dt="2026-01-30T17:54:44.087" v="34"/>
          <ac:spMkLst>
            <pc:docMk/>
            <pc:sldMk cId="0" sldId="262"/>
            <ac:spMk id="47" creationId="{00000000-0000-0000-0000-000000000000}"/>
          </ac:spMkLst>
        </pc:spChg>
        <pc:spChg chg="mod">
          <ac:chgData name="abdulaziz J ALharbi" userId="b900f52ee93742ea" providerId="LiveId" clId="{1E4A472C-8D5F-4C3D-A878-9F4CE084232D}" dt="2026-01-30T17:54:46.859" v="35"/>
          <ac:spMkLst>
            <pc:docMk/>
            <pc:sldMk cId="0" sldId="262"/>
            <ac:spMk id="57" creationId="{00000000-0000-0000-0000-000000000000}"/>
          </ac:spMkLst>
        </pc:spChg>
      </pc:sldChg>
      <pc:sldChg chg="modSp mod">
        <pc:chgData name="abdulaziz J ALharbi" userId="b900f52ee93742ea" providerId="LiveId" clId="{1E4A472C-8D5F-4C3D-A878-9F4CE084232D}" dt="2026-01-30T18:03:32.190" v="189" actId="20577"/>
        <pc:sldMkLst>
          <pc:docMk/>
          <pc:sldMk cId="459177309" sldId="266"/>
        </pc:sldMkLst>
        <pc:spChg chg="mod">
          <ac:chgData name="abdulaziz J ALharbi" userId="b900f52ee93742ea" providerId="LiveId" clId="{1E4A472C-8D5F-4C3D-A878-9F4CE084232D}" dt="2026-01-30T18:03:32.190" v="189" actId="20577"/>
          <ac:spMkLst>
            <pc:docMk/>
            <pc:sldMk cId="459177309" sldId="266"/>
            <ac:spMk id="43" creationId="{B28F1BEF-6C49-AD83-C511-16193D5860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0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(لا توجد مصادر خارجية في هذه الشريحة)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IBM Newsroom (Arabic): متوسط تكلفة الاختراق في الشرق الأوسط 32.8 مليون ريال سعودي (Cost of a Data Breach 2024). https://mea.newsroom.ibm.com/ar-ibm-anb-collaboration
- Verizon 2024 DBIR: “human element was a component of 68% of breaches”. https://www.verizon.com/business/resources/reports/2024-dbir-data-breach-investigations-report.pdf
- IBM Cost of a Data Breach 2024 (PDF): متوسط 292 يومًا للتعرّف والاحتواء لهجمات بيانات الدخول. https://cdn.table.media/assets/wp-content/uploads/2024/07/30132828/Cost-of-a-Data-Breach-Report-2024.pdf
- Al Arabiya (ينقل عن استطلاع Sophos KSA Cybersecurity Awareness 2024): 74% تعرّضوا لتصيّد. https://english.alarabiya.net/News/saudi-arabia/2025/02/03/phishing-major-cybersecurity-threat-in-saudi-arabia-in-2024-report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(محتوى من العرض الأصلي/وصف منتج؛ بدون مصادر خارجية)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(شريحة توضيحية لسير العمل)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(تحليل مقارن عام حسب فئات حلول شائعة؛ بدون نسب/ادعاءات رقمية)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(محتوى من العرض الأصلي/وصف سوق مستهدف)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(محتوى من العرض الأصلي/اقتراح هيكلة باقات)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(خارطة الطريق/الفريق/خطة الـPilot من العرض الأصلي)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26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0560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0883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1087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742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3891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83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201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16173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107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987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647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44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0" y="0"/>
            <a:ext cx="2011680" cy="2011680"/>
          </a:xfrm>
          <a:prstGeom prst="triangle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97280" y="315468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حارس البريد ضد التصيّد والهندسة الاجتماعية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75608" y="3886200"/>
            <a:ext cx="3840480" cy="457200"/>
          </a:xfrm>
          <a:prstGeom prst="round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75608" y="39044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QA" sz="1400" b="1" dirty="0">
                <a:solidFill>
                  <a:srgbClr val="0B1220"/>
                </a:solidFill>
                <a:latin typeface="Arial" pitchFamily="34" charset="0"/>
                <a:cs typeface="Arial" pitchFamily="34" charset="-120"/>
              </a:rPr>
              <a:t>فريق رقم : </a:t>
            </a:r>
          </a:p>
          <a:p>
            <a:pPr marL="0" indent="0" algn="ctr">
              <a:buNone/>
            </a:pPr>
            <a:r>
              <a:rPr lang="ar-QA" sz="1400" b="1" dirty="0">
                <a:solidFill>
                  <a:srgbClr val="0B1220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QA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قبل ان يتحول الى حادثه أمنية نحمي قرار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2E3799-917C-460B-A1F5-9EA64B24B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750" y="1617859"/>
            <a:ext cx="2650194" cy="14460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r>
              <a:rPr lang="ar-Q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ar-SA" sz="1400" dirty="0">
                <a:solidFill>
                  <a:schemeClr val="bg1"/>
                </a:solidFill>
              </a:rPr>
              <a:t>التصيّد ينجح لأن «النقرة» أسرع من أي إجراء يدوي.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5912" cy="205740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31920" y="1481328"/>
            <a:ext cx="6982097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تكلفة خرق البيانات</a:t>
            </a:r>
            <a:r>
              <a:rPr lang="ar-QA" dirty="0"/>
              <a:t> </a:t>
            </a: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</a:t>
            </a:r>
            <a:r>
              <a:rPr lang="ar-QA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لسعودية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59921" y="1254970"/>
            <a:ext cx="7631130" cy="2024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32.800.000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5642221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1481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555480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9281160" y="248716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657600"/>
            <a:ext cx="10698480" cy="164592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960120" y="3886200"/>
            <a:ext cx="476794" cy="50292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997444" y="3932481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1220"/>
                </a:solidFill>
                <a:latin typeface="Arial" pitchFamily="34" charset="0"/>
                <a:cs typeface="Arial" pitchFamily="34" charset="-120"/>
              </a:rPr>
              <a:t>!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976993" y="4471416"/>
            <a:ext cx="82349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QA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292 يوما</a:t>
            </a:r>
            <a:endParaRPr lang="en-US" sz="26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algn="ctr"/>
            <a:r>
              <a:rPr lang="en-US" sz="1600" b="1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زمن الاكتشاف</a:t>
            </a:r>
            <a:r>
              <a:rPr lang="ar-QA" sz="1600" b="1" dirty="0"/>
              <a:t> </a:t>
            </a:r>
            <a:r>
              <a:rPr lang="en-US" sz="1600" b="1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والاحتواء لهجمات</a:t>
            </a:r>
            <a:r>
              <a:rPr lang="ar-QA" sz="1600" b="1" dirty="0"/>
              <a:t> </a:t>
            </a:r>
            <a:r>
              <a:rPr lang="en-US" sz="1600" b="1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بيانات الدخول</a:t>
            </a:r>
            <a:endParaRPr lang="en-US" sz="1600" b="1" dirty="0"/>
          </a:p>
          <a:p>
            <a:pPr marL="0" indent="0" algn="ctr">
              <a:buNone/>
            </a:pPr>
            <a:r>
              <a:rPr lang="ar-QA" sz="2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2630767" y="4297680"/>
            <a:ext cx="6022908" cy="10957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b="1" dirty="0"/>
          </a:p>
        </p:txBody>
      </p:sp>
      <p:sp>
        <p:nvSpPr>
          <p:cNvPr id="28" name="Text 25"/>
          <p:cNvSpPr/>
          <p:nvPr/>
        </p:nvSpPr>
        <p:spPr>
          <a:xfrm>
            <a:off x="8549640" y="3904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006840" y="38221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549640" y="4315968"/>
            <a:ext cx="2788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ar-SA" sz="1400" dirty="0">
              <a:solidFill>
                <a:schemeClr val="bg1"/>
              </a:solidFill>
            </a:endParaRPr>
          </a:p>
        </p:txBody>
      </p:sp>
      <p:sp>
        <p:nvSpPr>
          <p:cNvPr id="31" name="Text 28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Aman+</a:t>
            </a:r>
            <a:endParaRPr lang="en-US" sz="1100" dirty="0"/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B28FB3B3-C392-BC76-C999-ADA5715F2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292 </a:t>
            </a:r>
            <a:r>
              <a:rPr kumimoji="0" lang="ar-SA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يومًا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DF4C2B33-5B6A-4363-2025-F19CDA576245}"/>
              </a:ext>
            </a:extLst>
          </p:cNvPr>
          <p:cNvSpPr/>
          <p:nvPr/>
        </p:nvSpPr>
        <p:spPr>
          <a:xfrm>
            <a:off x="1177526" y="2031275"/>
            <a:ext cx="541637" cy="5212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US" sz="2400" b="1" dirty="0"/>
              <a:t>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الحل: Aman+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صامتة تمنع التصيّد قبل أن يتحول إلى اختراق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972800" cy="1234440"/>
          </a:xfrm>
          <a:prstGeom prst="round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2200" dirty="0">
                <a:solidFill>
                  <a:schemeClr val="bg1"/>
                </a:solidFill>
              </a:rPr>
              <a:t>أداة ذكية تعمل تلقائيا مع كل رسالة تحول البريد من " نقطة ضعف " الى " طبقة دفاع " 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349240" cy="169164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51560" y="3154680"/>
            <a:ext cx="411480" cy="4114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1560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30906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تلقائية صامتة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فوري للرسالة بمجرد فتحها دون أي تدخل من الموظف.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2834640"/>
            <a:ext cx="5349240" cy="169164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675120" y="315468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75120" y="31729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23760" y="30906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المفتش الرقمي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35661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يزور الروابط المشبوهة بالنيابة عن الموظف ويكشف فخاخ سرقة البيانات.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800600"/>
            <a:ext cx="5349240" cy="169164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51560" y="51206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5156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5056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يتطور ذاتياً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55321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4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يتعلم من محاولات الاحتيال الجديدة ويحدّث قواعده تلقائياً.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55080" y="4800600"/>
            <a:ext cx="5349240" cy="169164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675120" y="512064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7512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50566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تحذير لحظي وبسيط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5321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ar-QA" sz="14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واضح فوق الرساله يجيب : ( مشبوه / أمن 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dirty="0">
                <a:solidFill>
                  <a:schemeClr val="bg1"/>
                </a:solidFill>
              </a:rPr>
              <a:t>AMAN+</a:t>
            </a:r>
            <a:r>
              <a:rPr lang="ar-QA" sz="2800" dirty="0">
                <a:solidFill>
                  <a:schemeClr val="bg1"/>
                </a:solidFill>
              </a:rPr>
              <a:t> كيف يعمل ؟ 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سير عمل واضح من لحظة فتح الرسالة حتى اتخاذ القرار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097533" y="6430466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1101937"/>
            <a:ext cx="10241280" cy="822960"/>
          </a:xfrm>
          <a:prstGeom prst="round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325880" y="1239097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1400" dirty="0">
                <a:solidFill>
                  <a:srgbClr val="C7D2FE"/>
                </a:solidFill>
                <a:latin typeface="Arial" pitchFamily="34" charset="0"/>
                <a:cs typeface="Arial" pitchFamily="34" charset="-120"/>
              </a:rPr>
              <a:t>الفكرة : " مفتش " بدل ان نخاطر بفتح الرابط مباشرة , نجعله يمر عليه ثم نعرض النتيجه للمستخدم = أمن </a:t>
            </a:r>
            <a:endParaRPr lang="en-US" sz="1400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0F5404F2-8C05-D0F4-E60F-9D4DF85180F8}"/>
              </a:ext>
            </a:extLst>
          </p:cNvPr>
          <p:cNvSpPr/>
          <p:nvPr/>
        </p:nvSpPr>
        <p:spPr>
          <a:xfrm>
            <a:off x="317711" y="2228898"/>
            <a:ext cx="5819965" cy="4286202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8899FBA1-B964-6B0A-5AD1-C8E09FC9EF87}"/>
              </a:ext>
            </a:extLst>
          </p:cNvPr>
          <p:cNvSpPr/>
          <p:nvPr/>
        </p:nvSpPr>
        <p:spPr>
          <a:xfrm>
            <a:off x="3442373" y="2673220"/>
            <a:ext cx="2514600" cy="123444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3E281461-823A-1BD5-BFF8-AF398042C0C1}"/>
              </a:ext>
            </a:extLst>
          </p:cNvPr>
          <p:cNvSpPr/>
          <p:nvPr/>
        </p:nvSpPr>
        <p:spPr>
          <a:xfrm>
            <a:off x="3442373" y="2673220"/>
            <a:ext cx="2514600" cy="1097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519E3E95-9147-A7EE-F4E0-2DDEED5E310D}"/>
              </a:ext>
            </a:extLst>
          </p:cNvPr>
          <p:cNvSpPr/>
          <p:nvPr/>
        </p:nvSpPr>
        <p:spPr>
          <a:xfrm>
            <a:off x="3625253" y="28378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البريد</a:t>
            </a:r>
            <a:endParaRPr lang="en-US" sz="16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C4AE2CFF-3601-7F5E-ACB9-36A5DFD87F48}"/>
              </a:ext>
            </a:extLst>
          </p:cNvPr>
          <p:cNvSpPr/>
          <p:nvPr/>
        </p:nvSpPr>
        <p:spPr>
          <a:xfrm>
            <a:off x="3625253" y="32401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الرسالة</a:t>
            </a:r>
            <a:endParaRPr lang="en-US" sz="1200" dirty="0"/>
          </a:p>
        </p:txBody>
      </p:sp>
      <p:sp>
        <p:nvSpPr>
          <p:cNvPr id="38" name="Shape 10">
            <a:extLst>
              <a:ext uri="{FF2B5EF4-FFF2-40B4-BE49-F238E27FC236}">
                <a16:creationId xmlns:a16="http://schemas.microsoft.com/office/drawing/2014/main" id="{BF543FBC-9A3D-769F-6093-0DF24B0A0EBD}"/>
              </a:ext>
            </a:extLst>
          </p:cNvPr>
          <p:cNvSpPr/>
          <p:nvPr/>
        </p:nvSpPr>
        <p:spPr>
          <a:xfrm>
            <a:off x="744893" y="2673220"/>
            <a:ext cx="2514600" cy="123444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AA180257-B02B-962B-227C-655AC25012B7}"/>
              </a:ext>
            </a:extLst>
          </p:cNvPr>
          <p:cNvSpPr/>
          <p:nvPr/>
        </p:nvSpPr>
        <p:spPr>
          <a:xfrm>
            <a:off x="744896" y="2673220"/>
            <a:ext cx="2514600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12">
            <a:extLst>
              <a:ext uri="{FF2B5EF4-FFF2-40B4-BE49-F238E27FC236}">
                <a16:creationId xmlns:a16="http://schemas.microsoft.com/office/drawing/2014/main" id="{1929D5BE-AC69-6F6F-B21A-5698BD378ED7}"/>
              </a:ext>
            </a:extLst>
          </p:cNvPr>
          <p:cNvSpPr/>
          <p:nvPr/>
        </p:nvSpPr>
        <p:spPr>
          <a:xfrm>
            <a:off x="955770" y="28378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تلقائي</a:t>
            </a:r>
            <a:endParaRPr lang="en-US" sz="16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AF328A42-1B45-DDAB-3B5D-2C4549E4A575}"/>
              </a:ext>
            </a:extLst>
          </p:cNvPr>
          <p:cNvSpPr/>
          <p:nvPr/>
        </p:nvSpPr>
        <p:spPr>
          <a:xfrm>
            <a:off x="1030411" y="324014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المرسل/النص/الروابط</a:t>
            </a:r>
            <a:endParaRPr lang="en-US" sz="1200" dirty="0"/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BA33F705-A612-346E-EE83-988F68DDFD97}"/>
              </a:ext>
            </a:extLst>
          </p:cNvPr>
          <p:cNvSpPr/>
          <p:nvPr/>
        </p:nvSpPr>
        <p:spPr>
          <a:xfrm>
            <a:off x="3452104" y="4417486"/>
            <a:ext cx="2514600" cy="123444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098E5F47-E471-4908-1327-9A9797F76406}"/>
              </a:ext>
            </a:extLst>
          </p:cNvPr>
          <p:cNvSpPr/>
          <p:nvPr/>
        </p:nvSpPr>
        <p:spPr>
          <a:xfrm>
            <a:off x="3442782" y="4417486"/>
            <a:ext cx="25146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ADED3D6D-64A0-04CE-5D25-F31AFAA64744}"/>
              </a:ext>
            </a:extLst>
          </p:cNvPr>
          <p:cNvSpPr/>
          <p:nvPr/>
        </p:nvSpPr>
        <p:spPr>
          <a:xfrm>
            <a:off x="3625659" y="458207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زيارة آمنة للرابط</a:t>
            </a:r>
            <a:endParaRPr lang="en-US" sz="16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1365AE21-F760-A6A1-A522-D9309F317B2C}"/>
              </a:ext>
            </a:extLst>
          </p:cNvPr>
          <p:cNvSpPr/>
          <p:nvPr/>
        </p:nvSpPr>
        <p:spPr>
          <a:xfrm>
            <a:off x="3653649" y="4984414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/ معاينة بدون تعريض المستخدم</a:t>
            </a:r>
            <a:endParaRPr lang="en-US" sz="120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0B863B6C-D530-520A-E508-26EBD32FADD7}"/>
              </a:ext>
            </a:extLst>
          </p:cNvPr>
          <p:cNvSpPr/>
          <p:nvPr/>
        </p:nvSpPr>
        <p:spPr>
          <a:xfrm>
            <a:off x="630305" y="4417486"/>
            <a:ext cx="251460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3AED78F8-7A3E-4DF1-2225-4D41B1B13F05}"/>
              </a:ext>
            </a:extLst>
          </p:cNvPr>
          <p:cNvSpPr/>
          <p:nvPr/>
        </p:nvSpPr>
        <p:spPr>
          <a:xfrm>
            <a:off x="5380258" y="4854349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endParaRPr lang="en-US" sz="1200" dirty="0"/>
          </a:p>
        </p:txBody>
      </p:sp>
      <p:sp>
        <p:nvSpPr>
          <p:cNvPr id="59" name="Shape 20">
            <a:extLst>
              <a:ext uri="{FF2B5EF4-FFF2-40B4-BE49-F238E27FC236}">
                <a16:creationId xmlns:a16="http://schemas.microsoft.com/office/drawing/2014/main" id="{CD8BD977-0707-BEEC-C61B-C7DEA7D69833}"/>
              </a:ext>
            </a:extLst>
          </p:cNvPr>
          <p:cNvSpPr/>
          <p:nvPr/>
        </p:nvSpPr>
        <p:spPr>
          <a:xfrm>
            <a:off x="666684" y="4520762"/>
            <a:ext cx="2514600" cy="123444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41A9F8-4788-6EC9-442E-F6687C652451}"/>
              </a:ext>
            </a:extLst>
          </p:cNvPr>
          <p:cNvSpPr txBox="1"/>
          <p:nvPr/>
        </p:nvSpPr>
        <p:spPr>
          <a:xfrm>
            <a:off x="511101" y="4632651"/>
            <a:ext cx="25959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QA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</a:t>
            </a:r>
            <a:r>
              <a:rPr lang="en-US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مبسّط</a:t>
            </a:r>
            <a:endParaRPr lang="en-US" dirty="0"/>
          </a:p>
          <a:p>
            <a:pPr algn="r"/>
            <a:r>
              <a:rPr lang="en-US" sz="12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آمن / مشبوه — مع سبب واضح</a:t>
            </a:r>
            <a:endParaRPr lang="en-US" sz="1200" dirty="0"/>
          </a:p>
          <a:p>
            <a:pPr algn="r"/>
            <a:endParaRPr lang="en-US" dirty="0"/>
          </a:p>
          <a:p>
            <a:endParaRPr lang="en-US" dirty="0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49F1445B-B6DD-57EC-C77C-59A7747B96A9}"/>
              </a:ext>
            </a:extLst>
          </p:cNvPr>
          <p:cNvSpPr/>
          <p:nvPr/>
        </p:nvSpPr>
        <p:spPr>
          <a:xfrm>
            <a:off x="6324733" y="2283761"/>
            <a:ext cx="5549555" cy="423134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8F6276-7600-E468-222E-E3B96912F583}"/>
              </a:ext>
            </a:extLst>
          </p:cNvPr>
          <p:cNvSpPr txBox="1"/>
          <p:nvPr/>
        </p:nvSpPr>
        <p:spPr>
          <a:xfrm>
            <a:off x="6923314" y="2283761"/>
            <a:ext cx="4301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 لنتيجة الفحص داخل البريد</a:t>
            </a:r>
            <a:endParaRPr lang="en-US" sz="1400" b="1" dirty="0"/>
          </a:p>
          <a:p>
            <a:pPr algn="r"/>
            <a:endParaRPr lang="en-US" sz="1400" b="1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103F35D5-995C-F951-597D-64514FFE0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414" y="2678913"/>
            <a:ext cx="2871526" cy="344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التميّز عن المنافسين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نقارن أنفسنا بفئات الحلول الأكثر شيوعاً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972800" cy="306324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سريعة (فئات حلول)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2423160" cy="548640"/>
          </a:xfrm>
          <a:prstGeom prst="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331720" cy="548640"/>
          </a:xfrm>
          <a:prstGeom prst="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74720" y="20756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KnowBe4 Security Awareness Training (KSAT) (KnowBe4)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hape 10"/>
          <p:cNvSpPr/>
          <p:nvPr/>
        </p:nvSpPr>
        <p:spPr>
          <a:xfrm>
            <a:off x="5715000" y="1965960"/>
            <a:ext cx="2331720" cy="548640"/>
          </a:xfrm>
          <a:prstGeom prst="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06440" y="20756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Gmail Spam &amp; Phishing Protection</a:t>
            </a:r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2331720" cy="548640"/>
          </a:xfrm>
          <a:prstGeom prst="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38160" y="20756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Menlo Security</a:t>
            </a:r>
          </a:p>
        </p:txBody>
      </p:sp>
      <p:sp>
        <p:nvSpPr>
          <p:cNvPr id="16" name="Shape 14"/>
          <p:cNvSpPr/>
          <p:nvPr/>
        </p:nvSpPr>
        <p:spPr>
          <a:xfrm>
            <a:off x="10378440" y="1965960"/>
            <a:ext cx="1554480" cy="548640"/>
          </a:xfrm>
          <a:prstGeom prst="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469880" y="20756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2514600"/>
            <a:ext cx="2423160" cy="502920"/>
          </a:xfrm>
          <a:prstGeom prst="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69848" y="2624328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عند لحظة النقر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51460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83280" y="2587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251460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15000" y="2587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251460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046720" y="2587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QA" sz="1400" b="1" dirty="0">
                <a:solidFill>
                  <a:srgbClr val="00C2A8"/>
                </a:solidFill>
                <a:latin typeface="Arial" pitchFamily="34" charset="0"/>
                <a:cs typeface="Arial" pitchFamily="34" charset="-120"/>
              </a:rPr>
              <a:t>متكامل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378440" y="2514600"/>
            <a:ext cx="155448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378440" y="258775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QA" sz="1400" b="1" dirty="0">
                <a:solidFill>
                  <a:srgbClr val="00C2A8"/>
                </a:solidFill>
                <a:latin typeface="Arial" pitchFamily="34" charset="0"/>
                <a:cs typeface="Arial" pitchFamily="34" charset="-120"/>
              </a:rPr>
              <a:t>متكامل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60120" y="3017520"/>
            <a:ext cx="2423160" cy="502920"/>
          </a:xfrm>
          <a:prstGeom prst="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69848" y="3127248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مبسّط داخل البريد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301752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83280" y="3090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301752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715000" y="3090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46720" y="301752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46720" y="3090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378440" y="3017520"/>
            <a:ext cx="155448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0378440" y="309067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QA" sz="1400" b="1" dirty="0">
                <a:solidFill>
                  <a:srgbClr val="00C2A8"/>
                </a:solidFill>
                <a:latin typeface="Arial" pitchFamily="34" charset="0"/>
                <a:cs typeface="Arial" pitchFamily="34" charset="-120"/>
              </a:rPr>
              <a:t>متكامل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60120" y="3520440"/>
            <a:ext cx="2423160" cy="502920"/>
          </a:xfrm>
          <a:prstGeom prst="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069848" y="3630168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مفتش/زيارة آمنة للرابط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383280" y="352044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83280" y="3593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715000" y="352044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15000" y="3593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046720" y="352044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046720" y="359359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QA" sz="1400" b="1" dirty="0">
                <a:solidFill>
                  <a:srgbClr val="00C2A8"/>
                </a:solidFill>
                <a:latin typeface="Arial" pitchFamily="34" charset="0"/>
                <a:cs typeface="Arial" pitchFamily="34" charset="-120"/>
              </a:rPr>
              <a:t>متكامل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378440" y="3520440"/>
            <a:ext cx="155448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378440" y="35935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QA" sz="1400" b="1" dirty="0">
                <a:solidFill>
                  <a:srgbClr val="00C2A8"/>
                </a:solidFill>
                <a:latin typeface="Arial" pitchFamily="34" charset="0"/>
                <a:cs typeface="Arial" pitchFamily="34" charset="-120"/>
              </a:rPr>
              <a:t>متكامل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60120" y="4023360"/>
            <a:ext cx="2423160" cy="502920"/>
          </a:xfrm>
          <a:prstGeom prst="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69848" y="4133088"/>
            <a:ext cx="22037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تكيّف مع أساليب جديدة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383280" y="402336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383280" y="4096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15000" y="402336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715000" y="4096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046720" y="4023360"/>
            <a:ext cx="233172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8046720" y="4096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جزئي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0378440" y="4023360"/>
            <a:ext cx="1554480" cy="502920"/>
          </a:xfrm>
          <a:prstGeom prst="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0378440" y="409651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ar-QA" sz="1400" b="1" dirty="0">
                <a:solidFill>
                  <a:srgbClr val="00C2A8"/>
                </a:solidFill>
                <a:latin typeface="Arial" pitchFamily="34" charset="0"/>
                <a:cs typeface="Arial" pitchFamily="34" charset="-120"/>
              </a:rPr>
              <a:t>متكامل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001902" y="444920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31520" y="4663440"/>
            <a:ext cx="10972800" cy="201168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005840" y="481888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تموضع (مبسّطة)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188720" y="5806440"/>
            <a:ext cx="1005840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217920" y="5074920"/>
            <a:ext cx="0" cy="146304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18872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أعلى على الموظف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50392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أقل على الموظف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309360" y="6419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بعد الحادث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309360" y="49194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QA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الحماية قبل النقر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011680" y="61722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1979950" y="621979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KnowBe4 Security Awareness Training (KSAT) (KnowBe4)</a:t>
            </a:r>
            <a:r>
              <a:rPr lang="en-US" sz="10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9" name="Shape 67"/>
          <p:cNvSpPr/>
          <p:nvPr/>
        </p:nvSpPr>
        <p:spPr>
          <a:xfrm>
            <a:off x="3931920" y="5669280"/>
            <a:ext cx="164592" cy="16459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3937516" y="5623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Gmail Spam &amp; Phishing Protection</a:t>
            </a:r>
          </a:p>
        </p:txBody>
      </p:sp>
      <p:sp>
        <p:nvSpPr>
          <p:cNvPr id="71" name="Shape 69"/>
          <p:cNvSpPr/>
          <p:nvPr/>
        </p:nvSpPr>
        <p:spPr>
          <a:xfrm>
            <a:off x="7406640" y="5715000"/>
            <a:ext cx="164592" cy="164592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824411" y="5669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Menlo Security</a:t>
            </a:r>
          </a:p>
        </p:txBody>
      </p:sp>
      <p:sp>
        <p:nvSpPr>
          <p:cNvPr id="73" name="Shape 71"/>
          <p:cNvSpPr/>
          <p:nvPr/>
        </p:nvSpPr>
        <p:spPr>
          <a:xfrm>
            <a:off x="7955280" y="53218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138160" y="5276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Aman+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ar-SA" sz="1400" dirty="0">
                <a:solidFill>
                  <a:schemeClr val="bg1"/>
                </a:solidFill>
              </a:rPr>
              <a:t>يُنشر بسهولة كإضافة للبريد أو عبر تكامل مباشر.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681966" cy="3501032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نستهدف؟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120640" cy="1181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>
              <a:buSzPct val="100000"/>
            </a:pPr>
            <a:r>
              <a:rPr lang="ar-SA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الشركات الكبيرة.</a:t>
            </a:r>
          </a:p>
          <a:p>
            <a:pPr algn="r">
              <a:buSzPct val="100000"/>
            </a:pPr>
            <a:r>
              <a:rPr lang="ar-SA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الجهات الحكومية وشبه الحكومية.</a:t>
            </a:r>
          </a:p>
          <a:p>
            <a:pPr algn="r">
              <a:buSzPct val="100000"/>
            </a:pPr>
            <a:r>
              <a:rPr lang="ar-SA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القطاع المالي والتقني والخدمات.</a:t>
            </a:r>
          </a:p>
          <a:p>
            <a:pPr algn="r">
              <a:buSzPct val="100000"/>
            </a:pPr>
            <a:r>
              <a:rPr lang="ar-SA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الجمعيات التي تعتمد على البريد في المعاملات. 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3789154"/>
            <a:ext cx="5120640" cy="960120"/>
          </a:xfrm>
          <a:prstGeom prst="round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88720" y="388059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الاحتياج الأساسي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413662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التصيّد + حماية الحسابات + رفع الوعي بأسلوب عملي داخل البريد.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399" y="1417320"/>
            <a:ext cx="5168599" cy="3501032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19742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حجم سوق العمل :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03720" y="2057400"/>
            <a:ext cx="4572000" cy="111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1D44A05F-D10A-1100-51F0-997AA6B94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8751" y="2691873"/>
            <a:ext cx="51732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ar-SA" dirty="0">
                <a:solidFill>
                  <a:schemeClr val="bg1"/>
                </a:solidFill>
              </a:rPr>
              <a:t>بلغ إنفاق الأمن السيبراني في السعودية عام 2024 نحو 15.2 مليار ريال (+14%)، وتوزّع بين القطاع الخاص 10.3 مليار (68%) والحكومي 4.8 مليار (32%).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العمل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اشتراك سنوي وباقات حسب عدد المستخدمين والمزايا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5669280" cy="525780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نبيع؟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5120640" cy="99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>
              <a:buSzPct val="100000"/>
            </a:pPr>
            <a:r>
              <a:rPr lang="ar-SA" sz="1600" dirty="0">
                <a:solidFill>
                  <a:schemeClr val="bg1"/>
                </a:solidFill>
              </a:rPr>
              <a:t>اشتراك سنوي للجهات (الشركات والجمعيات).</a:t>
            </a:r>
            <a:br>
              <a:rPr lang="ar-SA" sz="1600" dirty="0">
                <a:solidFill>
                  <a:schemeClr val="bg1"/>
                </a:solidFill>
              </a:rPr>
            </a:br>
            <a:r>
              <a:rPr lang="ar-SA" sz="1600" dirty="0">
                <a:solidFill>
                  <a:schemeClr val="bg1"/>
                </a:solidFill>
              </a:rPr>
              <a:t>باقات تسعير حسب عدد المستخدمين ومستوى الحماية.</a:t>
            </a:r>
            <a:br>
              <a:rPr lang="ar-SA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629400" y="1417320"/>
            <a:ext cx="5056632" cy="525780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0372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باقات مقترحة (بدون تسعير في العرض)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066731"/>
            <a:ext cx="4572000" cy="13258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086600" y="2240280"/>
            <a:ext cx="1234440" cy="347472"/>
          </a:xfrm>
          <a:prstGeom prst="round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86600" y="225856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أساسية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66760" y="225856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الرسائل والروابط • تنبيه داخل البريد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3566160"/>
            <a:ext cx="4572000" cy="13258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086600" y="3749040"/>
            <a:ext cx="1234440" cy="347472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86600" y="376732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احترافية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376732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ar-SA" sz="1400" dirty="0">
                <a:solidFill>
                  <a:schemeClr val="bg1"/>
                </a:solidFill>
              </a:rPr>
              <a:t>مفتّش رقمي / معاينة آمنة • تقارير ولوحة متابعة</a:t>
            </a:r>
          </a:p>
        </p:txBody>
      </p:sp>
      <p:sp>
        <p:nvSpPr>
          <p:cNvPr id="19" name="Shape 17"/>
          <p:cNvSpPr/>
          <p:nvPr/>
        </p:nvSpPr>
        <p:spPr>
          <a:xfrm>
            <a:off x="6903720" y="5074920"/>
            <a:ext cx="4572000" cy="13258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086600" y="5257800"/>
            <a:ext cx="1234440" cy="34747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86600" y="5276088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مؤسسية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527608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سياسات وحظر مركزي • تكاملات وصلاحيات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C33"/>
          </a:solidFill>
          <a:ln w="12700">
            <a:solidFill>
              <a:srgbClr val="0F1C3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201168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المستقبلية</a:t>
            </a:r>
            <a:r>
              <a:rPr lang="ar-Q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76656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972800" cy="315468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20843" y="1768715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طريق (18–24 شهراً)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37" y="2344787"/>
            <a:ext cx="1737360" cy="8686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377437" y="2344787"/>
            <a:ext cx="1737360" cy="914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8877" y="246365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أشهر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87165" y="2728835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العربية + تجربة 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68749" y="2344787"/>
            <a:ext cx="1737360" cy="8686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68749" y="2344787"/>
            <a:ext cx="173736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34837" y="246365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أشهر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53125" y="2728835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وتنبيهات ولوحة متابعة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4709" y="2344787"/>
            <a:ext cx="1737360" cy="8686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34709" y="2344787"/>
            <a:ext cx="17373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797" y="246365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شهراً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19085" y="2728835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Gmail/365 + صلاحيات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51391" y="2344787"/>
            <a:ext cx="1737360" cy="868680"/>
          </a:xfrm>
          <a:prstGeom prst="roundRect">
            <a:avLst/>
          </a:prstGeom>
          <a:solidFill>
            <a:srgbClr val="0F1C33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060704" y="2344787"/>
            <a:ext cx="173736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64119" y="2463659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12–24 شهراً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3743" y="2728835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B0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النموذج + قناة بلاغات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66688" y="3442067"/>
            <a:ext cx="690372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02181" y="3624947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12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الهدف : تقليل المخاطر + تقرير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41080" y="1572768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41080" y="2011680"/>
            <a:ext cx="2788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10972800" cy="1920240"/>
          </a:xfrm>
          <a:prstGeom prst="roundRect">
            <a:avLst/>
          </a:prstGeom>
          <a:solidFill>
            <a:srgbClr val="0D223B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05840" y="486460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ar-QA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 لمدة 6 اشهر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" y="52120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/>
            <a:r>
              <a:rPr lang="ar-SA" sz="1400" dirty="0">
                <a:solidFill>
                  <a:schemeClr val="bg1"/>
                </a:solidFill>
              </a:rPr>
              <a:t>تطوير الحل واختباره ثم نشره — </a:t>
            </a:r>
            <a:r>
              <a:rPr lang="ar-SA" sz="1400" b="1" dirty="0">
                <a:solidFill>
                  <a:schemeClr val="bg1"/>
                </a:solidFill>
              </a:rPr>
              <a:t>تقدير مبدئي:</a:t>
            </a:r>
            <a:r>
              <a:rPr lang="ar-SA" sz="1400" dirty="0">
                <a:solidFill>
                  <a:schemeClr val="bg1"/>
                </a:solidFill>
              </a:rPr>
              <a:t> 150–300 ألف ريال</a:t>
            </a:r>
            <a:r>
              <a:rPr lang="ar-QA" sz="1400" dirty="0">
                <a:solidFill>
                  <a:schemeClr val="bg1"/>
                </a:solidFill>
              </a:rPr>
              <a:t> في السنة</a:t>
            </a:r>
            <a:br>
              <a:rPr lang="ar-SA" sz="1400" dirty="0">
                <a:solidFill>
                  <a:schemeClr val="bg1"/>
                </a:solidFill>
              </a:rPr>
            </a:br>
            <a:r>
              <a:rPr lang="ar-SA" sz="1400" b="1" dirty="0">
                <a:solidFill>
                  <a:schemeClr val="bg1"/>
                </a:solidFill>
              </a:rPr>
              <a:t>الهدف:</a:t>
            </a:r>
            <a:r>
              <a:rPr lang="ar-SA" sz="1400" dirty="0">
                <a:solidFill>
                  <a:schemeClr val="bg1"/>
                </a:solidFill>
              </a:rPr>
              <a:t> تطبيقه في </a:t>
            </a:r>
            <a:r>
              <a:rPr lang="ar-SA" sz="1400" b="1" dirty="0">
                <a:solidFill>
                  <a:schemeClr val="bg1"/>
                </a:solidFill>
              </a:rPr>
              <a:t>2–3 جهات</a:t>
            </a:r>
            <a:r>
              <a:rPr lang="ar-SA" sz="1400" dirty="0">
                <a:solidFill>
                  <a:schemeClr val="bg1"/>
                </a:solidFill>
              </a:rPr>
              <a:t> وقياس الأثر بوضوح (خفض النقرات على الروابط المشبوهة، رفع معدلات التبليغ، وتقليل الحوادث).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" y="6327648"/>
            <a:ext cx="2743200" cy="384048"/>
          </a:xfrm>
          <a:prstGeom prst="round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14400" y="63459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جاهزون لتجربة؟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89920" y="6309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Aman+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">
            <a:extLst>
              <a:ext uri="{FF2B5EF4-FFF2-40B4-BE49-F238E27FC236}">
                <a16:creationId xmlns:a16="http://schemas.microsoft.com/office/drawing/2014/main" id="{C81386B6-2696-A387-561B-D379E2AF04DE}"/>
              </a:ext>
            </a:extLst>
          </p:cNvPr>
          <p:cNvSpPr/>
          <p:nvPr/>
        </p:nvSpPr>
        <p:spPr>
          <a:xfrm>
            <a:off x="731520" y="549573"/>
            <a:ext cx="10972800" cy="71939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0732B043-A41A-B666-D3F4-06BC434AF471}"/>
              </a:ext>
            </a:extLst>
          </p:cNvPr>
          <p:cNvSpPr/>
          <p:nvPr/>
        </p:nvSpPr>
        <p:spPr>
          <a:xfrm>
            <a:off x="731520" y="1851660"/>
            <a:ext cx="10972800" cy="3154680"/>
          </a:xfrm>
          <a:prstGeom prst="roundRect">
            <a:avLst/>
          </a:prstGeom>
          <a:solidFill>
            <a:srgbClr val="111B2F"/>
          </a:solidFill>
          <a:ln w="12700">
            <a:solidFill>
              <a:srgbClr val="1F2A44"/>
            </a:solidFill>
            <a:prstDash val="solid"/>
          </a:ln>
          <a:effectLst>
            <a:outerShdw blurRad="635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5621A9-94AA-F25F-BD0C-85EF54378595}"/>
              </a:ext>
            </a:extLst>
          </p:cNvPr>
          <p:cNvSpPr txBox="1"/>
          <p:nvPr/>
        </p:nvSpPr>
        <p:spPr>
          <a:xfrm>
            <a:off x="7492482" y="653144"/>
            <a:ext cx="3967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QA" sz="2400" b="1" dirty="0">
                <a:solidFill>
                  <a:schemeClr val="bg1"/>
                </a:solidFill>
              </a:rPr>
              <a:t>فريق العمل :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8F1BEF-6C49-AD83-C511-16193D586078}"/>
              </a:ext>
            </a:extLst>
          </p:cNvPr>
          <p:cNvSpPr txBox="1"/>
          <p:nvPr/>
        </p:nvSpPr>
        <p:spPr>
          <a:xfrm>
            <a:off x="2939144" y="2715212"/>
            <a:ext cx="6354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QA" sz="2400" b="1" dirty="0">
                <a:solidFill>
                  <a:schemeClr val="bg1"/>
                </a:solidFill>
              </a:rPr>
              <a:t>محمد المنصور (ذكاء اصطناعي)</a:t>
            </a:r>
          </a:p>
          <a:p>
            <a:pPr algn="ctr"/>
            <a:r>
              <a:rPr lang="ar-QA" sz="2400" b="1" dirty="0">
                <a:solidFill>
                  <a:schemeClr val="bg1"/>
                </a:solidFill>
              </a:rPr>
              <a:t>عبدالعزيز الحربي (مهندس بيانات)</a:t>
            </a:r>
          </a:p>
          <a:p>
            <a:pPr algn="ctr"/>
            <a:r>
              <a:rPr lang="ar-QA" sz="2400" b="1" dirty="0">
                <a:solidFill>
                  <a:schemeClr val="bg1"/>
                </a:solidFill>
              </a:rPr>
              <a:t>عبدالله المطيري (مهندس شبكات)</a:t>
            </a:r>
          </a:p>
          <a:p>
            <a:pPr algn="ctr"/>
            <a:r>
              <a:rPr lang="ar-QA" sz="2400" b="1" dirty="0">
                <a:solidFill>
                  <a:schemeClr val="bg1"/>
                </a:solidFill>
              </a:rPr>
              <a:t>ايوب العنزي (محلل بيانات)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17730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337</TotalTime>
  <Words>891</Words>
  <Application>Microsoft Office PowerPoint</Application>
  <PresentationFormat>Widescreen</PresentationFormat>
  <Paragraphs>137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AmanPlus</dc:creator>
  <cp:lastModifiedBy>abdulaziz J ALharbi</cp:lastModifiedBy>
  <cp:revision>3</cp:revision>
  <dcterms:created xsi:type="dcterms:W3CDTF">2026-01-30T12:00:21Z</dcterms:created>
  <dcterms:modified xsi:type="dcterms:W3CDTF">2026-01-30T18:06:26Z</dcterms:modified>
</cp:coreProperties>
</file>